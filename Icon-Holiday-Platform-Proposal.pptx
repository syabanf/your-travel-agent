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965960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spc="220" kern="0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PROPOSAL PLATFORM DIGITAL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237744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Icon Holiday</a:t>
            </a:r>
            <a:pPr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02920" y="3794760"/>
            <a:ext cx="8778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Satu platform untuk biro perjalanan: aplikasi traveler, admin console, dan company profile —</a:t>
            </a: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terhubung pada satu sumber data.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5989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0120" y="6254496"/>
            <a:ext cx="91440" cy="9144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16775" y="6035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Rahasia · untuk internal Icon Holiday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spc="160" kern="0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68151" y="32918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8151" y="329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2104" y="6556248"/>
            <a:ext cx="68580" cy="6858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6382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Icon Holiday Platform ©2026 · 360° Digital Transformation Company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08615" y="6382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Isi presentasi ini</a:t>
            </a:r>
            <a:pPr indent="0" marL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1118585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059168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20" kern="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SECTION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20" kern="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WHAT IT COVERS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120" kern="0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SLIDES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1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D1C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Konteks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Masalah operasional biro perjalanan hari ini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8B8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3–5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D1C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Arsitektur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Tiga permukaan aplikasi di atas satu data layer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8B8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6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D1C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Aplikasi Traveler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Discovery, booking, pembayaran DP, trip terkunci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8B8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7–12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D1C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Admin Console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CRM, trip, approval, dokumen, laporan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8B8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13–20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D1C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Company Profile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Situs publik 12 halaman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8B8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21–23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D1C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Kapabilitas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Delapan fitur komersial terbaru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8B8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24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D1C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Status &amp; Kualitas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Angka, cakupan test, batasan saat ini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8B8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25–26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D1C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Rencana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Tahapan menuju produksi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8B8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27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D1C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Penutup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Ringkasan dan langkah berikutnya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8B8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28–29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spc="16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KONTEKS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68151" y="32918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8151" y="329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2104" y="6556248"/>
            <a:ext cx="68580" cy="6858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6382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Icon Holiday Platform ©2026 · 360° Digital Transformation Company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08615" y="6382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72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Operasional tersebar di </a:t>
            </a:r>
            <a:pPr indent="0" marL="0">
              <a:lnSpc>
                <a:spcPts val="4872"/>
              </a:lnSpc>
              <a:buNone/>
            </a:pPr>
            <a:r>
              <a:rPr lang="en-US" sz="42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WhatsApp, spreadsheet</a:t>
            </a:r>
            <a:pPr indent="0" marL="0">
              <a:lnSpc>
                <a:spcPts val="4872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dan kepala orang</a:t>
            </a:r>
            <a:pPr indent="0" marL="0">
              <a:lnSpc>
                <a:spcPts val="4872"/>
              </a:lnSpc>
              <a:buNone/>
            </a:pPr>
            <a:r>
              <a:rPr lang="en-US" sz="42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8961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Booking dicatat manual, DP ditagih lewat chat, itinerary dikirim sebagai PDF, dan tidak ada satu pun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layar yang bisa menjawab: siapa yang belum lunas, dan trip mana yang boleh dibuka.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spc="160" kern="0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KONTEKS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68151" y="32918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8151" y="329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2104" y="6556248"/>
            <a:ext cx="68580" cy="6858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6382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Icon Holiday Platform ©2026 · 360° Digital Transformation Company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08615" y="6382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Tiga hal yang paling mahal</a:t>
            </a:r>
            <a:pPr indent="0" marL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02920" y="2103120"/>
            <a:ext cx="3545738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3E2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377440"/>
            <a:ext cx="303367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Pembayaran tidak terlacak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8952" y="3063240"/>
            <a:ext cx="303367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DP dicatat terpisah dari harga paket</a:t>
            </a:r>
            <a:endParaRPr lang="en-US" sz="11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Sisa tagihan dihitung ulang manual</a:t>
            </a:r>
            <a:endParaRPr lang="en-US" sz="11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Status "lunas" sering tidak sesuai angka</a:t>
            </a:r>
            <a:endParaRPr lang="en-US" sz="11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Kwitansi dibuat satu per satu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22978" y="2103120"/>
            <a:ext cx="3545738" cy="3200400"/>
          </a:xfrm>
          <a:prstGeom prst="roundRect">
            <a:avLst>
              <a:gd name="adj" fmla="val 2286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9010" y="2377440"/>
            <a:ext cx="303367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Itinerary bocor sebelum bayar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9010" y="3063240"/>
            <a:ext cx="303367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Rencana harian dikirim di awal percakapan</a:t>
            </a:r>
            <a:endParaRPr lang="en-US" sz="11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Calon tamu membawanya ke agen lain</a:t>
            </a:r>
            <a:endParaRPr lang="en-US" sz="11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Tidak ada kendali siapa boleh melihat apa</a:t>
            </a:r>
            <a:endParaRPr lang="en-US" sz="11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Hasil kerja tim tidak terlindungi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43037" y="2103120"/>
            <a:ext cx="3545738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3E2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9069" y="2377440"/>
            <a:ext cx="303367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Tidak ada satu sumber data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99069" y="3063240"/>
            <a:ext cx="303367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Lead, tamu dan booking di tempat berbeda</a:t>
            </a:r>
            <a:endParaRPr lang="en-US" sz="11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Laporan disusun manual tiap bulan</a:t>
            </a:r>
            <a:endParaRPr lang="en-US" sz="11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Sulit tahu margin per booking</a:t>
            </a:r>
            <a:endParaRPr lang="en-US" sz="11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Tidak ada jejak siapa mengubah apa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spc="160" kern="0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SOLUSI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68151" y="32918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8151" y="329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2104" y="6556248"/>
            <a:ext cx="68580" cy="6858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6382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Icon Holiday Platform ©2026 · 360° Digital Transformation Company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08615" y="6382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Yang kami usulkan</a:t>
            </a:r>
            <a:pPr indent="0" marL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02920" y="2194560"/>
            <a:ext cx="11185855" cy="2286000"/>
          </a:xfrm>
          <a:prstGeom prst="roundRect">
            <a:avLst>
              <a:gd name="adj" fmla="val 4000"/>
            </a:avLst>
          </a:prstGeom>
          <a:solidFill>
            <a:srgbClr val="83B3EE"/>
          </a:solidFill>
          <a:ln w="12700">
            <a:solidFill>
              <a:srgbClr val="83B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514600"/>
            <a:ext cx="1027145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10111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Trip baru terbuka penuh ketika pembayaran lunas — dan seluruh angka pembayaran diturunkan dari satu sumber, bukan diketik ulang.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02920" y="4709160"/>
            <a:ext cx="1118585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Dari aturan sederhana itu lahir sisanya: opsi DP per paket, kwitansi otomatis, penguncian itinerary, dan laporan yang selalu cocok dengan uang yang benar-benar masuk.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spc="160" kern="0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ARSITEKTUR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68151" y="32918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8151" y="329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2104" y="6556248"/>
            <a:ext cx="68580" cy="6858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6382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Icon Holiday Platform ©2026 · 360° Digital Transformation Company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08615" y="6382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Tiga permukaan, satu data layer</a:t>
            </a:r>
            <a:pPr indent="0" marL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02920" y="2148840"/>
            <a:ext cx="11185855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3E2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148840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Company Profile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2148840"/>
            <a:ext cx="684245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halaman statis · SEO-friendly · pintu masuk publik ke aplikasi dan CMS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12968" y="284378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▼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3099816"/>
            <a:ext cx="11185855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3E2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3099816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Aplikasi Traveler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26280" y="3099816"/>
            <a:ext cx="684245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PWA installable · 41 layar · discovery, booking, pembayaran, itinerary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12968" y="3794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4050792"/>
            <a:ext cx="11185855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3E2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4050792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 Console (CMS)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26280" y="4050792"/>
            <a:ext cx="684245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41 layar · CRM, katalog, approval, dokumen, laporan · RBAC 4 peran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12968" y="474573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▼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5001768"/>
            <a:ext cx="11185855" cy="713232"/>
          </a:xfrm>
          <a:prstGeom prst="roundRect">
            <a:avLst>
              <a:gd name="adj" fmla="val 8974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5001768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26280" y="5001768"/>
            <a:ext cx="684245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E9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 entity · audit trail otomatis · migrasi berversi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spc="16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BAGIAN 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68151" y="32918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8151" y="329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2104" y="6556248"/>
            <a:ext cx="68580" cy="6858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6382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Icon Holiday Platform ©2026 · 360° Digital Transformation Company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08615" y="6382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Aplikasi Traveler</a:t>
            </a:r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02920" y="38862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Semua tangkapan layar berikut diambil langsung dari aplikasi yang berjalan.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spc="160" kern="0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APLIKASI TRAVELER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68151" y="32918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8151" y="329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2104" y="6556248"/>
            <a:ext cx="68580" cy="6858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6382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Icon Holiday Platform ©2026 · 360° Digital Transformation Company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08615" y="6382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Discovery dan katalog </a:t>
            </a:r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paket</a:t>
            </a:r>
            <a:pPr indent="0" marL="0">
              <a:lnSpc>
                <a:spcPts val="3132"/>
              </a:lnSpc>
              <a:buNone/>
            </a:pPr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Beranda, etalase paket liburan, dan halaman detail dengan tier Signature / Cost Saver.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195267" y="2157984"/>
            <a:ext cx="1750841" cy="3666744"/>
          </a:xfrm>
          <a:prstGeom prst="roundRect">
            <a:avLst>
              <a:gd name="adj" fmla="val 3134"/>
            </a:avLst>
          </a:prstGeom>
          <a:solidFill>
            <a:srgbClr val="FFFFFF"/>
          </a:solidFill>
          <a:ln w="12700">
            <a:solidFill>
              <a:srgbClr val="E0DFE1"/>
            </a:solidFill>
            <a:prstDash val="solid"/>
          </a:ln>
        </p:spPr>
      </p:sp>
      <p:pic>
        <p:nvPicPr>
          <p:cNvPr id="12" name="Image 0" descr="/private/tmp/claude-501/-Users-syabanf-Documents-works-your-travel-agent/76a46d44-627e-4c09-958d-86a0bc6d57dd/scratchpad/shots-opt/mobile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0131" y="2212848"/>
            <a:ext cx="1641113" cy="355701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021531" y="5897880"/>
            <a:ext cx="209831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Beranda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220427" y="2157984"/>
            <a:ext cx="1750841" cy="3666744"/>
          </a:xfrm>
          <a:prstGeom prst="roundRect">
            <a:avLst>
              <a:gd name="adj" fmla="val 3134"/>
            </a:avLst>
          </a:prstGeom>
          <a:solidFill>
            <a:srgbClr val="FFFFFF"/>
          </a:solidFill>
          <a:ln w="12700">
            <a:solidFill>
              <a:srgbClr val="E0DFE1"/>
            </a:solidFill>
            <a:prstDash val="solid"/>
          </a:ln>
        </p:spPr>
      </p:sp>
      <p:pic>
        <p:nvPicPr>
          <p:cNvPr id="15" name="Image 1" descr="/private/tmp/claude-501/-Users-syabanf-Documents-works-your-travel-agent/76a46d44-627e-4c09-958d-86a0bc6d57dd/scratchpad/shots-opt/mobile-packag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291" y="2212848"/>
            <a:ext cx="1641113" cy="35570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46691" y="5897880"/>
            <a:ext cx="209831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Etalase paket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245588" y="2157984"/>
            <a:ext cx="1750841" cy="3666744"/>
          </a:xfrm>
          <a:prstGeom prst="roundRect">
            <a:avLst>
              <a:gd name="adj" fmla="val 3134"/>
            </a:avLst>
          </a:prstGeom>
          <a:solidFill>
            <a:srgbClr val="FFFFFF"/>
          </a:solidFill>
          <a:ln w="12700">
            <a:solidFill>
              <a:srgbClr val="E0DFE1"/>
            </a:solidFill>
            <a:prstDash val="solid"/>
          </a:ln>
        </p:spPr>
      </p:sp>
      <p:pic>
        <p:nvPicPr>
          <p:cNvPr id="18" name="Image 2" descr="/private/tmp/claude-501/-Users-syabanf-Documents-works-your-travel-agent/76a46d44-627e-4c09-958d-86a0bc6d57dd/scratchpad/shots-opt/mobile-package-deta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452" y="2212848"/>
            <a:ext cx="1641113" cy="35570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71852" y="5897880"/>
            <a:ext cx="209831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Detail paket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spc="160" kern="0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APLIKASI TRAVELER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68151" y="32918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8151" y="329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2104" y="6556248"/>
            <a:ext cx="68580" cy="6858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6382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Icon Holiday Platform ©2026 · 360° Digital Transformation Company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08615" y="6382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Itinerary dan </a:t>
            </a:r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trip terkunci</a:t>
            </a:r>
            <a:pPr indent="0" marL="0">
              <a:lnSpc>
                <a:spcPts val="3132"/>
              </a:lnSpc>
              <a:buNone/>
            </a:pPr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Trip yang dibeli dengan DP tetap terlihat, tetapi rencana hariannya disegel sampai lunas.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195267" y="2157984"/>
            <a:ext cx="1750841" cy="3666744"/>
          </a:xfrm>
          <a:prstGeom prst="roundRect">
            <a:avLst>
              <a:gd name="adj" fmla="val 3134"/>
            </a:avLst>
          </a:prstGeom>
          <a:solidFill>
            <a:srgbClr val="FFFFFF"/>
          </a:solidFill>
          <a:ln w="12700">
            <a:solidFill>
              <a:srgbClr val="E0DFE1"/>
            </a:solidFill>
            <a:prstDash val="solid"/>
          </a:ln>
        </p:spPr>
      </p:sp>
      <p:pic>
        <p:nvPicPr>
          <p:cNvPr id="12" name="Image 0" descr="/private/tmp/claude-501/-Users-syabanf-Documents-works-your-travel-agent/76a46d44-627e-4c09-958d-86a0bc6d57dd/scratchpad/shots-opt/mobile-itinerary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0131" y="2212848"/>
            <a:ext cx="1641113" cy="355701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021531" y="5897880"/>
            <a:ext cx="209831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Daftar trip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220427" y="2157984"/>
            <a:ext cx="1750841" cy="3666744"/>
          </a:xfrm>
          <a:prstGeom prst="roundRect">
            <a:avLst>
              <a:gd name="adj" fmla="val 3134"/>
            </a:avLst>
          </a:prstGeom>
          <a:solidFill>
            <a:srgbClr val="FFFFFF"/>
          </a:solidFill>
          <a:ln w="12700">
            <a:solidFill>
              <a:srgbClr val="E0DFE1"/>
            </a:solidFill>
            <a:prstDash val="solid"/>
          </a:ln>
        </p:spPr>
      </p:sp>
      <p:pic>
        <p:nvPicPr>
          <p:cNvPr id="15" name="Image 1" descr="/private/tmp/claude-501/-Users-syabanf-Documents-works-your-travel-agent/76a46d44-627e-4c09-958d-86a0bc6d57dd/scratchpad/shots-opt/mobile-trip-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291" y="2212848"/>
            <a:ext cx="1641113" cy="35570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46691" y="5897880"/>
            <a:ext cx="209831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Trip terbuka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245588" y="2157984"/>
            <a:ext cx="1750841" cy="3666744"/>
          </a:xfrm>
          <a:prstGeom prst="roundRect">
            <a:avLst>
              <a:gd name="adj" fmla="val 3134"/>
            </a:avLst>
          </a:prstGeom>
          <a:solidFill>
            <a:srgbClr val="FFFFFF"/>
          </a:solidFill>
          <a:ln w="12700">
            <a:solidFill>
              <a:srgbClr val="E0DFE1"/>
            </a:solidFill>
            <a:prstDash val="solid"/>
          </a:ln>
        </p:spPr>
      </p:sp>
      <p:pic>
        <p:nvPicPr>
          <p:cNvPr id="18" name="Image 2" descr="/private/tmp/claude-501/-Users-syabanf-Documents-works-your-travel-agent/76a46d44-627e-4c09-958d-86a0bc6d57dd/scratchpad/shots-opt/mobile-trip-lock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452" y="2212848"/>
            <a:ext cx="1641113" cy="35570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71852" y="5897880"/>
            <a:ext cx="209831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Trip terkunci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spc="160" kern="0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APLIKASI TRAVELER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68151" y="32918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8151" y="329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2104" y="6556248"/>
            <a:ext cx="68580" cy="6858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6382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Icon Holiday Platform ©2026 · 360° Digital Transformation Company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08615" y="6382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Pembayaran dengan </a:t>
            </a:r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opsi DP</a:t>
            </a:r>
            <a:pPr indent="0" marL="0">
              <a:lnSpc>
                <a:spcPts val="3132"/>
              </a:lnSpc>
              <a:buNone/>
            </a:pPr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Checkout menawarkan tangga DP sesuai minimum tiap paket; kembali lagi hanya menagih sisanya.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195267" y="2157984"/>
            <a:ext cx="1750841" cy="3666744"/>
          </a:xfrm>
          <a:prstGeom prst="roundRect">
            <a:avLst>
              <a:gd name="adj" fmla="val 3134"/>
            </a:avLst>
          </a:prstGeom>
          <a:solidFill>
            <a:srgbClr val="FFFFFF"/>
          </a:solidFill>
          <a:ln w="12700">
            <a:solidFill>
              <a:srgbClr val="E0DFE1"/>
            </a:solidFill>
            <a:prstDash val="solid"/>
          </a:ln>
        </p:spPr>
      </p:sp>
      <p:pic>
        <p:nvPicPr>
          <p:cNvPr id="12" name="Image 0" descr="/private/tmp/claude-501/-Users-syabanf-Documents-works-your-travel-agent/76a46d44-627e-4c09-958d-86a0bc6d57dd/scratchpad/shots-opt/mobile-checkout-d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0131" y="2212848"/>
            <a:ext cx="1641113" cy="355701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021531" y="5897880"/>
            <a:ext cx="209831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Checkout + DP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220427" y="2157984"/>
            <a:ext cx="1750841" cy="3666744"/>
          </a:xfrm>
          <a:prstGeom prst="roundRect">
            <a:avLst>
              <a:gd name="adj" fmla="val 3134"/>
            </a:avLst>
          </a:prstGeom>
          <a:solidFill>
            <a:srgbClr val="FFFFFF"/>
          </a:solidFill>
          <a:ln w="12700">
            <a:solidFill>
              <a:srgbClr val="E0DFE1"/>
            </a:solidFill>
            <a:prstDash val="solid"/>
          </a:ln>
        </p:spPr>
      </p:sp>
      <p:pic>
        <p:nvPicPr>
          <p:cNvPr id="15" name="Image 1" descr="/private/tmp/claude-501/-Users-syabanf-Documents-works-your-travel-agent/76a46d44-627e-4c09-958d-86a0bc6d57dd/scratchpad/shots-opt/mobile-booking-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291" y="2212848"/>
            <a:ext cx="1641113" cy="35570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46691" y="5897880"/>
            <a:ext cx="209831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Daftar booking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245588" y="2157984"/>
            <a:ext cx="1750841" cy="3666744"/>
          </a:xfrm>
          <a:prstGeom prst="roundRect">
            <a:avLst>
              <a:gd name="adj" fmla="val 3134"/>
            </a:avLst>
          </a:prstGeom>
          <a:solidFill>
            <a:srgbClr val="FFFFFF"/>
          </a:solidFill>
          <a:ln w="12700">
            <a:solidFill>
              <a:srgbClr val="E0DFE1"/>
            </a:solidFill>
            <a:prstDash val="solid"/>
          </a:ln>
        </p:spPr>
      </p:sp>
      <p:pic>
        <p:nvPicPr>
          <p:cNvPr id="18" name="Image 2" descr="/private/tmp/claude-501/-Users-syabanf-Documents-works-your-travel-agent/76a46d44-627e-4c09-958d-86a0bc6d57dd/scratchpad/shots-opt/mobile-o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452" y="2212848"/>
            <a:ext cx="1641113" cy="35570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71852" y="5897880"/>
            <a:ext cx="209831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Pencarian OTA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spc="160" kern="0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APLIKASI TRAVELER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68151" y="32918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8151" y="329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2104" y="6556248"/>
            <a:ext cx="68580" cy="6858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6382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Icon Holiday Platform ©2026 · 360° Digital Transformation Company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08615" y="6382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Layanan </a:t>
            </a:r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berbayar</a:t>
            </a:r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dan concierge</a:t>
            </a:r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Virtual Guiding dan AI Itinerary dijual lewat alur checkout yang sama — satu jalur pembayaran, satu kwitansi.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195267" y="2157984"/>
            <a:ext cx="1750841" cy="3666744"/>
          </a:xfrm>
          <a:prstGeom prst="roundRect">
            <a:avLst>
              <a:gd name="adj" fmla="val 3134"/>
            </a:avLst>
          </a:prstGeom>
          <a:solidFill>
            <a:srgbClr val="FFFFFF"/>
          </a:solidFill>
          <a:ln w="12700">
            <a:solidFill>
              <a:srgbClr val="E0DFE1"/>
            </a:solidFill>
            <a:prstDash val="solid"/>
          </a:ln>
        </p:spPr>
      </p:sp>
      <p:pic>
        <p:nvPicPr>
          <p:cNvPr id="12" name="Image 0" descr="/private/tmp/claude-501/-Users-syabanf-Documents-works-your-travel-agent/76a46d44-627e-4c09-958d-86a0bc6d57dd/scratchpad/shots-opt/mobile-assist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0131" y="2212848"/>
            <a:ext cx="1641113" cy="355701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021531" y="5897880"/>
            <a:ext cx="209831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Hub asisten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220427" y="2157984"/>
            <a:ext cx="1750841" cy="3666744"/>
          </a:xfrm>
          <a:prstGeom prst="roundRect">
            <a:avLst>
              <a:gd name="adj" fmla="val 3134"/>
            </a:avLst>
          </a:prstGeom>
          <a:solidFill>
            <a:srgbClr val="FFFFFF"/>
          </a:solidFill>
          <a:ln w="12700">
            <a:solidFill>
              <a:srgbClr val="E0DFE1"/>
            </a:solidFill>
            <a:prstDash val="solid"/>
          </a:ln>
        </p:spPr>
      </p:sp>
      <p:pic>
        <p:nvPicPr>
          <p:cNvPr id="15" name="Image 1" descr="/private/tmp/claude-501/-Users-syabanf-Documents-works-your-travel-agent/76a46d44-627e-4c09-958d-86a0bc6d57dd/scratchpad/shots-opt/mobile-paywall-gui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291" y="2212848"/>
            <a:ext cx="1641113" cy="35570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46691" y="5897880"/>
            <a:ext cx="209831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Paywall add-on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245588" y="2157984"/>
            <a:ext cx="1750841" cy="3666744"/>
          </a:xfrm>
          <a:prstGeom prst="roundRect">
            <a:avLst>
              <a:gd name="adj" fmla="val 3134"/>
            </a:avLst>
          </a:prstGeom>
          <a:solidFill>
            <a:srgbClr val="FFFFFF"/>
          </a:solidFill>
          <a:ln w="12700">
            <a:solidFill>
              <a:srgbClr val="E0DFE1"/>
            </a:solidFill>
            <a:prstDash val="solid"/>
          </a:ln>
        </p:spPr>
      </p:sp>
      <p:pic>
        <p:nvPicPr>
          <p:cNvPr id="18" name="Image 2" descr="/private/tmp/claude-501/-Users-syabanf-Documents-works-your-travel-agent/76a46d44-627e-4c09-958d-86a0bc6d57dd/scratchpad/shots-opt/mobile-ai-lock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452" y="2212848"/>
            <a:ext cx="1641113" cy="35570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71852" y="5897880"/>
            <a:ext cx="209831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terkunci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spc="160" kern="0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APLIKASI TRAVELER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68151" y="32918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8151" y="329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2104" y="6556248"/>
            <a:ext cx="68580" cy="6858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6382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Icon Holiday Platform ©2026 · 360° Digital Transformation Company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08615" y="6382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Akun dan </a:t>
            </a:r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pendaftaran</a:t>
            </a:r>
            <a:pPr indent="0" marL="0">
              <a:lnSpc>
                <a:spcPts val="3132"/>
              </a:lnSpc>
              <a:buNone/>
            </a:pPr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Pendaftaran tidak langsung membuat akun aktif — menunggu persetujuan admin lebih dulu.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07847" y="2157984"/>
            <a:ext cx="1750841" cy="3666744"/>
          </a:xfrm>
          <a:prstGeom prst="roundRect">
            <a:avLst>
              <a:gd name="adj" fmla="val 3134"/>
            </a:avLst>
          </a:prstGeom>
          <a:solidFill>
            <a:srgbClr val="FFFFFF"/>
          </a:solidFill>
          <a:ln w="12700">
            <a:solidFill>
              <a:srgbClr val="E0DFE1"/>
            </a:solidFill>
            <a:prstDash val="solid"/>
          </a:ln>
        </p:spPr>
      </p:sp>
      <p:pic>
        <p:nvPicPr>
          <p:cNvPr id="12" name="Image 0" descr="/private/tmp/claude-501/-Users-syabanf-Documents-works-your-travel-agent/76a46d44-627e-4c09-958d-86a0bc6d57dd/scratchpad/shots-opt/mobile-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2711" y="2212848"/>
            <a:ext cx="1641113" cy="355701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034111" y="5897880"/>
            <a:ext cx="209831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Profil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33008" y="2157984"/>
            <a:ext cx="1750841" cy="3666744"/>
          </a:xfrm>
          <a:prstGeom prst="roundRect">
            <a:avLst>
              <a:gd name="adj" fmla="val 3134"/>
            </a:avLst>
          </a:prstGeom>
          <a:solidFill>
            <a:srgbClr val="FFFFFF"/>
          </a:solidFill>
          <a:ln w="12700">
            <a:solidFill>
              <a:srgbClr val="E0DFE1"/>
            </a:solidFill>
            <a:prstDash val="solid"/>
          </a:ln>
        </p:spPr>
      </p:sp>
      <p:pic>
        <p:nvPicPr>
          <p:cNvPr id="15" name="Image 1" descr="/private/tmp/claude-501/-Users-syabanf-Documents-works-your-travel-agent/76a46d44-627e-4c09-958d-86a0bc6d57dd/scratchpad/shots-opt/mobile-log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872" y="2212848"/>
            <a:ext cx="1641113" cy="35570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059272" y="5897880"/>
            <a:ext cx="209831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Masuk / daftar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spc="16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BAGIAN 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68151" y="32918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8151" y="329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2104" y="6556248"/>
            <a:ext cx="68580" cy="6858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6382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Icon Holiday Platform ©2026 · 360° Digital Transformation Company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08615" y="6382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13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 Console</a:t>
            </a:r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02920" y="38862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Ruang kerja tim: CRM, katalog, trip, approval, dokumen, dan laporan.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spc="160" kern="0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 CONSOLE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68151" y="32918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8151" y="329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2104" y="6556248"/>
            <a:ext cx="68580" cy="6858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6382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Icon Holiday Platform ©2026 · 360° Digital Transformation Company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08615" y="6382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14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Overview </a:t>
            </a:r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operasional</a:t>
            </a:r>
            <a:pPr indent="0" marL="0">
              <a:lnSpc>
                <a:spcPts val="3132"/>
              </a:lnSpc>
              <a:buNone/>
            </a:pPr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Ringkasan harian: booking, pendapatan, lead, dan trip yang perlu perhatian.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12568" y="1956816"/>
            <a:ext cx="6766560" cy="4270248"/>
          </a:xfrm>
          <a:prstGeom prst="roundRect">
            <a:avLst>
              <a:gd name="adj" fmla="val 1285"/>
            </a:avLst>
          </a:prstGeom>
          <a:solidFill>
            <a:srgbClr val="FFFFFF"/>
          </a:solidFill>
          <a:ln w="12700">
            <a:solidFill>
              <a:srgbClr val="E0DFE1"/>
            </a:solidFill>
            <a:prstDash val="solid"/>
          </a:ln>
        </p:spPr>
      </p:sp>
      <p:pic>
        <p:nvPicPr>
          <p:cNvPr id="12" name="Image 0" descr="/private/tmp/claude-501/-Users-syabanf-Documents-works-your-travel-agent/76a46d44-627e-4c09-958d-86a0bc6d57dd/scratchpad/shots-opt/desktop-cms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7432" y="2011680"/>
            <a:ext cx="6656832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spc="160" kern="0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 CONSOLE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68151" y="32918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8151" y="329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2104" y="6556248"/>
            <a:ext cx="68580" cy="6858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6382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Icon Holiday Platform ©2026 · 360° Digital Transformation Company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08615" y="6382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Manajemen </a:t>
            </a:r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trip</a:t>
            </a:r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dengan status kunci</a:t>
            </a:r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CRUD trip lengkap dengan itinerary harian, plus kolom kunci: Open · Locked (sisa tagihan) · Paid.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12568" y="1956816"/>
            <a:ext cx="6766560" cy="4270248"/>
          </a:xfrm>
          <a:prstGeom prst="roundRect">
            <a:avLst>
              <a:gd name="adj" fmla="val 1285"/>
            </a:avLst>
          </a:prstGeom>
          <a:solidFill>
            <a:srgbClr val="FFFFFF"/>
          </a:solidFill>
          <a:ln w="12700">
            <a:solidFill>
              <a:srgbClr val="E0DFE1"/>
            </a:solidFill>
            <a:prstDash val="solid"/>
          </a:ln>
        </p:spPr>
      </p:sp>
      <p:pic>
        <p:nvPicPr>
          <p:cNvPr id="12" name="Image 0" descr="/private/tmp/claude-501/-Users-syabanf-Documents-works-your-travel-agent/76a46d44-627e-4c09-958d-86a0bc6d57dd/scratchpad/shots-opt/desktop-cms-tri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7432" y="2011680"/>
            <a:ext cx="6656832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spc="160" kern="0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 CONSOLE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68151" y="32918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8151" y="329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2104" y="6556248"/>
            <a:ext cx="68580" cy="6858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6382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Icon Holiday Platform ©2026 · 360° Digital Transformation Company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08615" y="6382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Antrean </a:t>
            </a:r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persetujuan</a:t>
            </a:r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pendaftaran</a:t>
            </a:r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Setiap pendaftar ditinjau lebih dulu; keputusan tercatat lengkap dengan siapa dan kapan.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12568" y="1956816"/>
            <a:ext cx="6766560" cy="4270248"/>
          </a:xfrm>
          <a:prstGeom prst="roundRect">
            <a:avLst>
              <a:gd name="adj" fmla="val 1285"/>
            </a:avLst>
          </a:prstGeom>
          <a:solidFill>
            <a:srgbClr val="FFFFFF"/>
          </a:solidFill>
          <a:ln w="12700">
            <a:solidFill>
              <a:srgbClr val="E0DFE1"/>
            </a:solidFill>
            <a:prstDash val="solid"/>
          </a:ln>
        </p:spPr>
      </p:sp>
      <p:pic>
        <p:nvPicPr>
          <p:cNvPr id="12" name="Image 0" descr="/private/tmp/claude-501/-Users-syabanf-Documents-works-your-travel-agent/76a46d44-627e-4c09-958d-86a0bc6d57dd/scratchpad/shots-opt/desktop-cms-registr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7432" y="2011680"/>
            <a:ext cx="6656832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spc="160" kern="0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 CONSOLE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68151" y="32918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8151" y="329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2104" y="6556248"/>
            <a:ext cx="68580" cy="6858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6382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Icon Holiday Platform ©2026 · 360° Digital Transformation Company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08615" y="6382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17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Detail booking dan </a:t>
            </a:r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dokumen</a:t>
            </a:r>
            <a:pPr indent="0" marL="0">
              <a:lnSpc>
                <a:spcPts val="3132"/>
              </a:lnSpc>
              <a:buNone/>
            </a:pPr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Voucher, Receipt, dan Quotation siap cetak — angka diambil dari pembayaran yang tercatat.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12568" y="1956816"/>
            <a:ext cx="6766560" cy="4270248"/>
          </a:xfrm>
          <a:prstGeom prst="roundRect">
            <a:avLst>
              <a:gd name="adj" fmla="val 1285"/>
            </a:avLst>
          </a:prstGeom>
          <a:solidFill>
            <a:srgbClr val="FFFFFF"/>
          </a:solidFill>
          <a:ln w="12700">
            <a:solidFill>
              <a:srgbClr val="E0DFE1"/>
            </a:solidFill>
            <a:prstDash val="solid"/>
          </a:ln>
        </p:spPr>
      </p:sp>
      <p:pic>
        <p:nvPicPr>
          <p:cNvPr id="12" name="Image 0" descr="/private/tmp/claude-501/-Users-syabanf-Documents-works-your-travel-agent/76a46d44-627e-4c09-958d-86a0bc6d57dd/scratchpad/shots-opt/desktop-cms-booking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7432" y="2011680"/>
            <a:ext cx="6656832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spc="160" kern="0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 CONSOLE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68151" y="32918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8151" y="329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2104" y="6556248"/>
            <a:ext cx="68580" cy="6858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6382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Icon Holiday Platform ©2026 · 360° Digital Transformation Company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08615" y="6382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Katalog </a:t>
            </a:r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paket liburan</a:t>
            </a:r>
            <a:pPr indent="0" marL="0">
              <a:lnSpc>
                <a:spcPts val="3132"/>
              </a:lnSpc>
              <a:buNone/>
            </a:pPr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Harga, durasi, kuota, itinerary harian, tanggal keberangkatan, dan minimum DP per paket.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12568" y="1956816"/>
            <a:ext cx="6766560" cy="4270248"/>
          </a:xfrm>
          <a:prstGeom prst="roundRect">
            <a:avLst>
              <a:gd name="adj" fmla="val 1285"/>
            </a:avLst>
          </a:prstGeom>
          <a:solidFill>
            <a:srgbClr val="FFFFFF"/>
          </a:solidFill>
          <a:ln w="12700">
            <a:solidFill>
              <a:srgbClr val="E0DFE1"/>
            </a:solidFill>
            <a:prstDash val="solid"/>
          </a:ln>
        </p:spPr>
      </p:sp>
      <p:pic>
        <p:nvPicPr>
          <p:cNvPr id="12" name="Image 0" descr="/private/tmp/claude-501/-Users-syabanf-Documents-works-your-travel-agent/76a46d44-627e-4c09-958d-86a0bc6d57dd/scratchpad/shots-opt/desktop-cms-pack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7432" y="2011680"/>
            <a:ext cx="6656832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spc="160" kern="0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 CONSOLE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68151" y="32918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8151" y="329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2104" y="6556248"/>
            <a:ext cx="68580" cy="6858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6382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Icon Holiday Platform ©2026 · 360° Digital Transformation Company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08615" y="6382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19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Laporan dan </a:t>
            </a:r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analitik</a:t>
            </a:r>
            <a:pPr indent="0" marL="0">
              <a:lnSpc>
                <a:spcPts val="3132"/>
              </a:lnSpc>
              <a:buNone/>
            </a:pPr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Analytics, Business, Finance, dan AI report dengan pembanding antar periode.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12568" y="1956816"/>
            <a:ext cx="6766560" cy="4270248"/>
          </a:xfrm>
          <a:prstGeom prst="roundRect">
            <a:avLst>
              <a:gd name="adj" fmla="val 1285"/>
            </a:avLst>
          </a:prstGeom>
          <a:solidFill>
            <a:srgbClr val="FFFFFF"/>
          </a:solidFill>
          <a:ln w="12700">
            <a:solidFill>
              <a:srgbClr val="E0DFE1"/>
            </a:solidFill>
            <a:prstDash val="solid"/>
          </a:ln>
        </p:spPr>
      </p:sp>
      <p:pic>
        <p:nvPicPr>
          <p:cNvPr id="12" name="Image 0" descr="/private/tmp/claude-501/-Users-syabanf-Documents-works-your-travel-agent/76a46d44-627e-4c09-958d-86a0bc6d57dd/scratchpad/shots-opt/desktop-cms-repo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7432" y="2011680"/>
            <a:ext cx="6656832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spc="160" kern="0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 CONSOLE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68151" y="32918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8151" y="329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2104" y="6556248"/>
            <a:ext cx="68580" cy="6858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6382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Icon Holiday Platform ©2026 · 360° Digital Transformation Company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08615" y="6382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20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Modul </a:t>
            </a:r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lainnya</a:t>
            </a:r>
            <a:pPr indent="0" marL="0">
              <a:lnSpc>
                <a:spcPts val="3132"/>
              </a:lnSpc>
              <a:buNone/>
            </a:pPr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CRM, ledger booking, kanal OTA, dan basis data tamu — seluruhnya di bawah RBAC yang sama.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27044" y="2167128"/>
            <a:ext cx="2659075" cy="1696212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 w="12700">
            <a:solidFill>
              <a:srgbClr val="E0DFE1"/>
            </a:solidFill>
            <a:prstDash val="solid"/>
          </a:ln>
        </p:spPr>
      </p:sp>
      <p:pic>
        <p:nvPicPr>
          <p:cNvPr id="12" name="Image 0" descr="/private/tmp/claude-501/-Users-syabanf-Documents-works-your-travel-agent/76a46d44-627e-4c09-958d-86a0bc6d57dd/scratchpad/shots-opt/desktop-cms-lea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2764" y="2212848"/>
            <a:ext cx="2567635" cy="16047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372764" y="3890772"/>
            <a:ext cx="25676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Leads / inquiry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05576" y="2167128"/>
            <a:ext cx="2659075" cy="1696212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 w="12700">
            <a:solidFill>
              <a:srgbClr val="E0DFE1"/>
            </a:solidFill>
            <a:prstDash val="solid"/>
          </a:ln>
        </p:spPr>
      </p:sp>
      <p:pic>
        <p:nvPicPr>
          <p:cNvPr id="15" name="Image 1" descr="/private/tmp/claude-501/-Users-syabanf-Documents-works-your-travel-agent/76a46d44-627e-4c09-958d-86a0bc6d57dd/scratchpad/shots-opt/desktop-cms-book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296" y="2212848"/>
            <a:ext cx="2567635" cy="16047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251296" y="3890772"/>
            <a:ext cx="25676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Ledger booking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327044" y="4247388"/>
            <a:ext cx="2659075" cy="1696212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 w="12700">
            <a:solidFill>
              <a:srgbClr val="E0DFE1"/>
            </a:solidFill>
            <a:prstDash val="solid"/>
          </a:ln>
        </p:spPr>
      </p:sp>
      <p:pic>
        <p:nvPicPr>
          <p:cNvPr id="18" name="Image 2" descr="/private/tmp/claude-501/-Users-syabanf-Documents-works-your-travel-agent/76a46d44-627e-4c09-958d-86a0bc6d57dd/scratchpad/shots-opt/desktop-cms-o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2764" y="4293108"/>
            <a:ext cx="2567635" cy="16047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372764" y="5971032"/>
            <a:ext cx="25676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Kanal OTA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205576" y="4247388"/>
            <a:ext cx="2659075" cy="1696212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 w="12700">
            <a:solidFill>
              <a:srgbClr val="E0DFE1"/>
            </a:solidFill>
            <a:prstDash val="solid"/>
          </a:ln>
        </p:spPr>
      </p:sp>
      <p:pic>
        <p:nvPicPr>
          <p:cNvPr id="21" name="Image 3" descr="/private/tmp/claude-501/-Users-syabanf-Documents-works-your-travel-agent/76a46d44-627e-4c09-958d-86a0bc6d57dd/scratchpad/shots-opt/desktop-cms-custom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1296" y="4293108"/>
            <a:ext cx="2567635" cy="16047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51296" y="5971032"/>
            <a:ext cx="25676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Basis data tamu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spc="16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BAGIAN 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68151" y="32918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8151" y="329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2104" y="6556248"/>
            <a:ext cx="68580" cy="6858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6382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Icon Holiday Platform ©2026 · 360° Digital Transformation Company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08615" y="6382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21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Company Profile</a:t>
            </a:r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02920" y="38862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Situs publik yang memayungi keduanya, dengan konten terpusat di satu berkas.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spc="160" kern="0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COMPANY PROFILE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68151" y="32918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8151" y="329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2104" y="6556248"/>
            <a:ext cx="68580" cy="6858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6382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Icon Holiday Platform ©2026 · 360° Digital Transformation Company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08615" y="6382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Beranda </a:t>
            </a:r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publik</a:t>
            </a:r>
            <a:pPr indent="0" marL="0">
              <a:lnSpc>
                <a:spcPts val="3132"/>
              </a:lnSpc>
              <a:buNone/>
            </a:pPr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Halaman depan: layanan, paket unggulan, dan jalur masuk ke aplikasi maupun CMS.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12568" y="1956816"/>
            <a:ext cx="6766560" cy="4270248"/>
          </a:xfrm>
          <a:prstGeom prst="roundRect">
            <a:avLst>
              <a:gd name="adj" fmla="val 1285"/>
            </a:avLst>
          </a:prstGeom>
          <a:solidFill>
            <a:srgbClr val="FFFFFF"/>
          </a:solidFill>
          <a:ln w="12700">
            <a:solidFill>
              <a:srgbClr val="E0DFE1"/>
            </a:solidFill>
            <a:prstDash val="solid"/>
          </a:ln>
        </p:spPr>
      </p:sp>
      <p:pic>
        <p:nvPicPr>
          <p:cNvPr id="12" name="Image 0" descr="/private/tmp/claude-501/-Users-syabanf-Documents-works-your-travel-agent/76a46d44-627e-4c09-958d-86a0bc6d57dd/scratchpad/shots-opt/desktop-landing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7432" y="2011680"/>
            <a:ext cx="6656832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spc="160" kern="0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COMPANY PROFILE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68151" y="32918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8151" y="329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2104" y="6556248"/>
            <a:ext cx="68580" cy="6858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6382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Icon Holiday Platform ©2026 · 360° Digital Transformation Company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08615" y="6382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23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Katalog </a:t>
            </a:r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tour</a:t>
            </a:r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publik</a:t>
            </a:r>
            <a:pPr indent="0" marL="0">
              <a:lnSpc>
                <a:spcPts val="3132"/>
              </a:lnSpc>
              <a:buNone/>
            </a:pPr>
            <a:r>
              <a:rPr lang="en-US" sz="27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halaman — tour, destinasi, visa, galeri, artikel, kontak — konten dikelola dari satu berkas.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12568" y="1956816"/>
            <a:ext cx="6766560" cy="4270248"/>
          </a:xfrm>
          <a:prstGeom prst="roundRect">
            <a:avLst>
              <a:gd name="adj" fmla="val 1285"/>
            </a:avLst>
          </a:prstGeom>
          <a:solidFill>
            <a:srgbClr val="FFFFFF"/>
          </a:solidFill>
          <a:ln w="12700">
            <a:solidFill>
              <a:srgbClr val="E0DFE1"/>
            </a:solidFill>
            <a:prstDash val="solid"/>
          </a:ln>
        </p:spPr>
      </p:sp>
      <p:pic>
        <p:nvPicPr>
          <p:cNvPr id="12" name="Image 0" descr="/private/tmp/claude-501/-Users-syabanf-Documents-works-your-travel-agent/76a46d44-627e-4c09-958d-86a0bc6d57dd/scratchpad/shots-opt/desktop-landing-t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7432" y="2011680"/>
            <a:ext cx="6656832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spc="160" kern="0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KAPABILITAS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68151" y="32918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8151" y="329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2104" y="6556248"/>
            <a:ext cx="68580" cy="6858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6382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Icon Holiday Platform ©2026 · 360° Digital Transformation Company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08615" y="6382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24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Delapan kemampuan </a:t>
            </a:r>
            <a:pPr indent="0" marL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komersial</a:t>
            </a:r>
            <a:pPr indent="0" marL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terbaru</a:t>
            </a:r>
            <a:pPr indent="0" marL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02920" y="2103120"/>
            <a:ext cx="2618156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3E2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2304288"/>
            <a:ext cx="274320" cy="82296"/>
          </a:xfrm>
          <a:prstGeom prst="roundRect">
            <a:avLst>
              <a:gd name="adj" fmla="val 44444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2487168"/>
            <a:ext cx="22158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Trip terkunci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04088" y="2907792"/>
            <a:ext cx="22158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Detail tersegel sampai pembayaran lunas, terbuka otomatis.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58820" y="2103120"/>
            <a:ext cx="2618156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3E2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59988" y="2304288"/>
            <a:ext cx="274320" cy="82296"/>
          </a:xfrm>
          <a:prstGeom prst="roundRect">
            <a:avLst>
              <a:gd name="adj" fmla="val 44444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59988" y="2487168"/>
            <a:ext cx="22158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Opsi DP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59988" y="2907792"/>
            <a:ext cx="22158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Tangga cicilan sesuai minimum tiap paket, diatur di CMS.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4720" y="2103120"/>
            <a:ext cx="2618156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3E2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15888" y="2304288"/>
            <a:ext cx="274320" cy="82296"/>
          </a:xfrm>
          <a:prstGeom prst="roundRect">
            <a:avLst>
              <a:gd name="adj" fmla="val 44444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5888" y="2487168"/>
            <a:ext cx="22158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CRUD trip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15888" y="2907792"/>
            <a:ext cx="22158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Halaman khusus di CMS plus itinerary harian.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070619" y="2103120"/>
            <a:ext cx="2618156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3E2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71787" y="2304288"/>
            <a:ext cx="274320" cy="82296"/>
          </a:xfrm>
          <a:prstGeom prst="roundRect">
            <a:avLst>
              <a:gd name="adj" fmla="val 44444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71787" y="2487168"/>
            <a:ext cx="22158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Approval pendaftaran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271787" y="2907792"/>
            <a:ext cx="22158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Akun aktif hanya setelah admin menyetujui.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3822192"/>
            <a:ext cx="2618156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3E2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" y="4023360"/>
            <a:ext cx="274320" cy="82296"/>
          </a:xfrm>
          <a:prstGeom prst="roundRect">
            <a:avLst>
              <a:gd name="adj" fmla="val 44444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" y="4206240"/>
            <a:ext cx="22158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Layanan berbayar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04088" y="4626864"/>
            <a:ext cx="22158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Virtual Guiding dan AI Itinerary lewat checkout yang sama.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58820" y="3822192"/>
            <a:ext cx="2618156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3E2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59988" y="4023360"/>
            <a:ext cx="274320" cy="82296"/>
          </a:xfrm>
          <a:prstGeom prst="roundRect">
            <a:avLst>
              <a:gd name="adj" fmla="val 44444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59988" y="4206240"/>
            <a:ext cx="22158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Receipt &amp; Quotation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59988" y="4626864"/>
            <a:ext cx="22158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Dokumen siap cetak dari data pembayaran.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4720" y="3822192"/>
            <a:ext cx="2618156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3E2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15888" y="4023360"/>
            <a:ext cx="274320" cy="82296"/>
          </a:xfrm>
          <a:prstGeom prst="roundRect">
            <a:avLst>
              <a:gd name="adj" fmla="val 44444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15888" y="4206240"/>
            <a:ext cx="22158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Tier paket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415888" y="4626864"/>
            <a:ext cx="22158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Signature dan Cost Saver dengan minimum DP berbeda.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070619" y="3822192"/>
            <a:ext cx="2618156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3E2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71787" y="4023360"/>
            <a:ext cx="274320" cy="82296"/>
          </a:xfrm>
          <a:prstGeom prst="roundRect">
            <a:avLst>
              <a:gd name="adj" fmla="val 44444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71787" y="4206240"/>
            <a:ext cx="22158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PWA installable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9271787" y="4626864"/>
            <a:ext cx="22158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Bisa dipasang di layar utama, ikon dan mode offline.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spc="160" kern="0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STATUS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68151" y="32918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8151" y="329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2104" y="6556248"/>
            <a:ext cx="68580" cy="6858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6382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Icon Holiday Platform ©2026 · 360° Digital Transformation Company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08615" y="6382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Yang sudah berjalan hari ini</a:t>
            </a:r>
            <a:pPr indent="0" marL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02920" y="2057400"/>
            <a:ext cx="5455768" cy="1463040"/>
          </a:xfrm>
          <a:prstGeom prst="roundRect">
            <a:avLst>
              <a:gd name="adj" fmla="val 5000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258568"/>
            <a:ext cx="4870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82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795528" y="2971800"/>
            <a:ext cx="4870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E7E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Layar aplikasi — 41 traveler, 41 admin console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33008" y="2057400"/>
            <a:ext cx="5455768" cy="1463040"/>
          </a:xfrm>
          <a:prstGeom prst="roundRect">
            <a:avLst>
              <a:gd name="adj" fmla="val 5000"/>
            </a:avLst>
          </a:prstGeom>
          <a:solidFill>
            <a:srgbClr val="101112"/>
          </a:solidFill>
          <a:ln w="12700">
            <a:solidFill>
              <a:srgbClr val="1011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5616" y="2258568"/>
            <a:ext cx="4870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525616" y="2971800"/>
            <a:ext cx="4870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E7E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Entity data dengan audit trail otomatis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794760"/>
            <a:ext cx="5455768" cy="1463040"/>
          </a:xfrm>
          <a:prstGeom prst="roundRect">
            <a:avLst>
              <a:gd name="adj" fmla="val 5000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995928"/>
            <a:ext cx="4870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115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795528" y="4709160"/>
            <a:ext cx="4870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E7E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test, seluruhnya lulus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33008" y="3794760"/>
            <a:ext cx="5455768" cy="1463040"/>
          </a:xfrm>
          <a:prstGeom prst="roundRect">
            <a:avLst>
              <a:gd name="adj" fmla="val 5000"/>
            </a:avLst>
          </a:prstGeom>
          <a:solidFill>
            <a:srgbClr val="101112"/>
          </a:solidFill>
          <a:ln w="12700">
            <a:solidFill>
              <a:srgbClr val="1011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25616" y="3995928"/>
            <a:ext cx="4870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525616" y="4709160"/>
            <a:ext cx="4870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E7E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Halaman company profile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553212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Seluruh angka di atas diverifikasi langsung dari kode pada commit terakhir, bukan estimasi.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spc="16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STATUS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68151" y="32918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8151" y="329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2104" y="6556248"/>
            <a:ext cx="68580" cy="6858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6382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Icon Holiday Platform ©2026 · 360° Digital Transformation Company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08615" y="6382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Yang perlu diketahui: ini 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prototipe berjalan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bukan sistem produksi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02920" y="3429000"/>
            <a:ext cx="8961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Seluruh data saat ini tersimpan di browser (localStorage) dan pembayaran disimulasikan — tanpa server,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tanpa payment gateway, tanpa autentikasi sungguhan. Semua alur bisnis sudah utuh dan bisa dicoba end-to-end,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tetapi lapisan backend adalah pekerjaan tahap berikutnya. Kami menyampaikan ini di depan agar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keputusan anggaran dan jadwal dibuat di atas gambaran yang benar.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1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spc="160" kern="0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RENCANA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68151" y="32918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8151" y="329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2104" y="6556248"/>
            <a:ext cx="68580" cy="6858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6382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Icon Holiday Platform ©2026 · 360° Digital Transformation Company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08615" y="6382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27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Tahapan menuju produksi</a:t>
            </a:r>
            <a:pPr indent="0" marL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2618156" cy="402336"/>
          </a:xfrm>
          <a:prstGeom prst="roundRect">
            <a:avLst>
              <a:gd name="adj" fmla="val 45455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40280"/>
            <a:ext cx="26181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SELESAI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816352"/>
            <a:ext cx="25267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Prototipe produk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3401568"/>
            <a:ext cx="252671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82 layar berjalan</a:t>
            </a:r>
            <a:endParaRPr lang="en-US" sz="10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Aturan bisnis lengkap</a:t>
            </a:r>
            <a:endParaRPr lang="en-US" sz="10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115 test</a:t>
            </a:r>
            <a:endParaRPr lang="en-US" sz="10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Docker siap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58820" y="2240280"/>
            <a:ext cx="2618156" cy="402336"/>
          </a:xfrm>
          <a:prstGeom prst="roundRect">
            <a:avLst>
              <a:gd name="adj" fmla="val 45455"/>
            </a:avLst>
          </a:prstGeom>
          <a:solidFill>
            <a:srgbClr val="101112"/>
          </a:solidFill>
          <a:ln w="12700">
            <a:solidFill>
              <a:srgbClr val="1011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8820" y="2240280"/>
            <a:ext cx="26181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FASE 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04540" y="2816352"/>
            <a:ext cx="25267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Backend &amp; autentikasi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404540" y="3401568"/>
            <a:ext cx="252671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Database dan API</a:t>
            </a:r>
            <a:endParaRPr lang="en-US" sz="10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Login sungguhan</a:t>
            </a:r>
            <a:endParaRPr lang="en-US" sz="10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Migrasi data demo</a:t>
            </a:r>
            <a:endParaRPr lang="en-US" sz="10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Peran &amp; izin server-side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4720" y="2240280"/>
            <a:ext cx="2618156" cy="402336"/>
          </a:xfrm>
          <a:prstGeom prst="roundRect">
            <a:avLst>
              <a:gd name="adj" fmla="val 45455"/>
            </a:avLst>
          </a:prstGeom>
          <a:solidFill>
            <a:srgbClr val="101112"/>
          </a:solidFill>
          <a:ln w="12700">
            <a:solidFill>
              <a:srgbClr val="1011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4720" y="2240280"/>
            <a:ext cx="26181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FASE 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60440" y="2816352"/>
            <a:ext cx="25267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Pembayaran nyata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60440" y="3401568"/>
            <a:ext cx="252671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Payment gateway</a:t>
            </a:r>
            <a:endParaRPr lang="en-US" sz="10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Rekonsiliasi DP</a:t>
            </a:r>
            <a:endParaRPr lang="en-US" sz="10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Kwitansi bernomor resmi</a:t>
            </a:r>
            <a:endParaRPr lang="en-US" sz="10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Webhook status bayar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70619" y="2240280"/>
            <a:ext cx="2618156" cy="402336"/>
          </a:xfrm>
          <a:prstGeom prst="roundRect">
            <a:avLst>
              <a:gd name="adj" fmla="val 45455"/>
            </a:avLst>
          </a:prstGeom>
          <a:solidFill>
            <a:srgbClr val="101112"/>
          </a:solidFill>
          <a:ln w="12700">
            <a:solidFill>
              <a:srgbClr val="1011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70619" y="2240280"/>
            <a:ext cx="26181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FASE 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16339" y="2816352"/>
            <a:ext cx="25267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Integrasi &amp; rilis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116339" y="3401568"/>
            <a:ext cx="252671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Channel manager OTA</a:t>
            </a:r>
            <a:endParaRPr lang="en-US" sz="10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WhatsApp Business API</a:t>
            </a:r>
            <a:endParaRPr lang="en-US" sz="10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Domain &amp; hosting</a:t>
            </a:r>
            <a:endParaRPr lang="en-US" sz="105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Pelatihan tim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544068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Urutan ini disusun agar setiap fase menghasilkan sesuatu yang bisa dipakai, bukan menunggu semuanya selesai.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32104" y="6556248"/>
            <a:ext cx="68580" cy="6858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94560" y="6382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Icon Holiday Platform ©2026 · 360° Digital Transformation Company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408615" y="6382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2423160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Produknya sudah bisa dilihat, bukan dibayangkan</a:t>
            </a:r>
            <a:pPr indent="0" marL="0">
              <a:lnSpc>
                <a:spcPts val="5800"/>
              </a:lnSpc>
              <a:buNone/>
            </a:pPr>
            <a:r>
              <a:rPr lang="en-US" sz="52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420624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Seluruh tangkapan layar dalam dokumen ini berasal dari aplikasi yang berjalan hari ini.</a:t>
            </a: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0C0C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Langkah berikutnya adalah menyepakati ruang lingkup Fase 1.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spc="160" kern="0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LANGKAH BERIKUTNYA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68151" y="32918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8151" y="329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2104" y="6556248"/>
            <a:ext cx="68580" cy="6858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63825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Icon Holiday Platform ©2026 · 360° Digital Transformation Company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08615" y="6382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8B8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 29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Mari lanjutkan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ED1C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02920" y="283464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  Demo langsung aplikasi — traveler app dan admin console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 Menyepakati ruang lingkup dan prioritas Fase 1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  Estimasi waktu dan anggaran per fase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WIT.ID · Make IT Happen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4800600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800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Jadwalkan demo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2026-08-31T04:26:35Z</dcterms:created>
  <dcterms:modified xsi:type="dcterms:W3CDTF">2026-08-31T04:26:35Z</dcterms:modified>
</cp:coreProperties>
</file>